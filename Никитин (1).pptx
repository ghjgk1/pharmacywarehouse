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6" r:id="rId6"/>
    <p:sldId id="259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81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9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2D2A-6CDA-0CCE-9A5B-14BB2AE3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B2809-9A25-BE62-C5CA-4D148046C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4DC5B-F41B-01AB-7642-E550D0A94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E7971-D7BC-50EE-AAC6-9A088C554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7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5029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Министерство образования Свердловской области</a:t>
            </a:r>
            <a:endParaRPr lang="en-US" sz="1200" dirty="0">
              <a:solidFill>
                <a:srgbClr val="64748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9326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ГАПОУ СО «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Екатеринбургский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колледж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транспортного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строительства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25880"/>
            <a:ext cx="6111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8000"/>
              </a:lnSpc>
            </a:pPr>
            <a:r>
              <a:rPr lang="ru-RU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Информационная система учета, управления и контроля за аптечными товарами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461772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00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Дипломный проект 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52303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ПР-41 Никитин С.А.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55961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r>
              <a:rPr lang="ru-RU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Ватолина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Т.А.	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6309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4" name="Picture 2" descr="Pharmacy Warehouse Design Placebo Pharmacy | Commercial Design, Store">
            <a:extLst>
              <a:ext uri="{FF2B5EF4-FFF2-40B4-BE49-F238E27FC236}">
                <a16:creationId xmlns:a16="http://schemas.microsoft.com/office/drawing/2014/main" id="{40ECB07D-3AAF-4BA9-8D41-67A27FD68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0"/>
            <a:ext cx="6249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389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Предметная область и актуальность темы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55064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74650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2020 года в РФ обязательна маркировка лекарств — поштучный учёт через систему МДЛП «Честный знак»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" y="3008376"/>
            <a:ext cx="5806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учёт не справляется с потоком серийных номеров (SGTIN) и кодов DataMatrix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178808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0080" y="4270248"/>
            <a:ext cx="5806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Регуляторные требования к срокам годности, температурным режимам и партионному учёту растут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601968" y="5021834"/>
            <a:ext cx="5609844" cy="12217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7" name="Text 11"/>
          <p:cNvSpPr/>
          <p:nvPr/>
        </p:nvSpPr>
        <p:spPr>
          <a:xfrm>
            <a:off x="6804660" y="5238629"/>
            <a:ext cx="5387340" cy="78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аптечный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отгрузки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ЛП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 Приложение превращает рутинные операции по приёму, хранению и отпуску лекарственных средств в контролируемый и документированный цифровой процесс.</a:t>
            </a:r>
            <a:endParaRPr lang="en-US" sz="1400" dirty="0"/>
          </a:p>
        </p:txBody>
      </p:sp>
      <p:sp>
        <p:nvSpPr>
          <p:cNvPr id="19" name="AutoShape 4" descr="12 удивительно интересных фактов о лекарствах и фармацевтической ...">
            <a:extLst>
              <a:ext uri="{FF2B5EF4-FFF2-40B4-BE49-F238E27FC236}">
                <a16:creationId xmlns:a16="http://schemas.microsoft.com/office/drawing/2014/main" id="{40C85DB9-4796-40D7-C4E7-43CBB9002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2200" y="35143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12 удивительно интересных фактов о лекарствах и фармацевтической ...">
            <a:extLst>
              <a:ext uri="{FF2B5EF4-FFF2-40B4-BE49-F238E27FC236}">
                <a16:creationId xmlns:a16="http://schemas.microsoft.com/office/drawing/2014/main" id="{1C6ADF43-48DB-DD03-3ECD-5DC884AD8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0" t="1694" r="21920" b="-1694"/>
          <a:stretch>
            <a:fillRect/>
          </a:stretch>
        </p:blipFill>
        <p:spPr bwMode="auto">
          <a:xfrm>
            <a:off x="7955280" y="1225296"/>
            <a:ext cx="3218180" cy="385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389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</a:t>
            </a:r>
            <a:r>
              <a:rPr lang="en-US" sz="30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</a:t>
            </a: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проекта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53312"/>
            <a:ext cx="11338560" cy="960120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99616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4630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автоматизированную информационную систему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учёта товародвижения аптечного склада с поддержкой маркировки ЛП и эмуляцией интеграции с МДЛП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514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0F2FE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0" y="258775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317296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 и проектирование БД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7680" y="2514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5F3FF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651760"/>
            <a:ext cx="457200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43800" y="2587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2"/>
          <p:cNvSpPr/>
          <p:nvPr/>
        </p:nvSpPr>
        <p:spPr>
          <a:xfrm>
            <a:off x="75438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34840" y="317296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Партионный учёт, документооборот (приход / расход / списание)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83880" y="2514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651760"/>
            <a:ext cx="457200" cy="457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1430000" y="258775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6"/>
          <p:cNvSpPr/>
          <p:nvPr/>
        </p:nvSpPr>
        <p:spPr>
          <a:xfrm>
            <a:off x="114300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321040" y="317296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маркировки: SGTIN, DataMatrix, эмуляция МДЛП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1480" y="39776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0F2FE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14800"/>
            <a:ext cx="457200" cy="457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3657600" y="4050792"/>
            <a:ext cx="384048" cy="3840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7" name="Text 20"/>
          <p:cNvSpPr/>
          <p:nvPr/>
        </p:nvSpPr>
        <p:spPr>
          <a:xfrm>
            <a:off x="36576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" y="46360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пользователями, ролевая модель доступа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297680" y="39776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41148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543800" y="405079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4"/>
          <p:cNvSpPr/>
          <p:nvPr/>
        </p:nvSpPr>
        <p:spPr>
          <a:xfrm>
            <a:off x="75438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434840" y="46360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с экспортом в Excel, главная страница KPI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183880" y="39776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4114800"/>
            <a:ext cx="457200" cy="45720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1430000" y="4050792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28"/>
          <p:cNvSpPr/>
          <p:nvPr/>
        </p:nvSpPr>
        <p:spPr>
          <a:xfrm>
            <a:off x="114300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8321040" y="46360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о критических событиях, инвентаризация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1">
            <a:extLst>
              <a:ext uri="{FF2B5EF4-FFF2-40B4-BE49-F238E27FC236}">
                <a16:creationId xmlns:a16="http://schemas.microsoft.com/office/drawing/2014/main" id="{B9EDA935-FFD5-8BA3-5A1E-F4D2AA4CB805}"/>
              </a:ext>
            </a:extLst>
          </p:cNvPr>
          <p:cNvSpPr/>
          <p:nvPr/>
        </p:nvSpPr>
        <p:spPr>
          <a:xfrm>
            <a:off x="411480" y="438912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работы приложения</a:t>
            </a:r>
            <a:endParaRPr lang="en-US" sz="3000" dirty="0"/>
          </a:p>
        </p:txBody>
      </p:sp>
      <p:sp>
        <p:nvSpPr>
          <p:cNvPr id="74" name="Shape 2">
            <a:extLst>
              <a:ext uri="{FF2B5EF4-FFF2-40B4-BE49-F238E27FC236}">
                <a16:creationId xmlns:a16="http://schemas.microsoft.com/office/drawing/2014/main" id="{F568B56D-FEAD-0A4A-03E9-08E22070DFFD}"/>
              </a:ext>
            </a:extLst>
          </p:cNvPr>
          <p:cNvSpPr/>
          <p:nvPr/>
        </p:nvSpPr>
        <p:spPr>
          <a:xfrm>
            <a:off x="411480" y="1170432"/>
            <a:ext cx="100584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4" name="Shape 32">
            <a:extLst>
              <a:ext uri="{FF2B5EF4-FFF2-40B4-BE49-F238E27FC236}">
                <a16:creationId xmlns:a16="http://schemas.microsoft.com/office/drawing/2014/main" id="{56A578E9-357D-6F87-CEA5-456FAB1E1EFE}"/>
              </a:ext>
            </a:extLst>
          </p:cNvPr>
          <p:cNvSpPr/>
          <p:nvPr/>
        </p:nvSpPr>
        <p:spPr>
          <a:xfrm>
            <a:off x="4160520" y="1298448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Shape 33">
            <a:extLst>
              <a:ext uri="{FF2B5EF4-FFF2-40B4-BE49-F238E27FC236}">
                <a16:creationId xmlns:a16="http://schemas.microsoft.com/office/drawing/2014/main" id="{B7AF9FA0-A5E5-52A8-BFE0-1D4F886A7C7C}"/>
              </a:ext>
            </a:extLst>
          </p:cNvPr>
          <p:cNvSpPr/>
          <p:nvPr/>
        </p:nvSpPr>
        <p:spPr>
          <a:xfrm>
            <a:off x="4270248" y="1426464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6" name="Text 34">
            <a:extLst>
              <a:ext uri="{FF2B5EF4-FFF2-40B4-BE49-F238E27FC236}">
                <a16:creationId xmlns:a16="http://schemas.microsoft.com/office/drawing/2014/main" id="{C439D608-C62D-4A98-2D02-A740B5EDAC36}"/>
              </a:ext>
            </a:extLst>
          </p:cNvPr>
          <p:cNvSpPr/>
          <p:nvPr/>
        </p:nvSpPr>
        <p:spPr>
          <a:xfrm>
            <a:off x="4471416" y="1389888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Авторизация и вход</a:t>
            </a:r>
            <a:endParaRPr lang="en-US" sz="1400" dirty="0"/>
          </a:p>
        </p:txBody>
      </p:sp>
      <p:sp>
        <p:nvSpPr>
          <p:cNvPr id="107" name="Text 35">
            <a:extLst>
              <a:ext uri="{FF2B5EF4-FFF2-40B4-BE49-F238E27FC236}">
                <a16:creationId xmlns:a16="http://schemas.microsoft.com/office/drawing/2014/main" id="{1EFBB4DC-91EB-91C1-29D7-D80E18E16D7B}"/>
              </a:ext>
            </a:extLst>
          </p:cNvPr>
          <p:cNvSpPr/>
          <p:nvPr/>
        </p:nvSpPr>
        <p:spPr>
          <a:xfrm>
            <a:off x="4471416" y="1682496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учётных данных. При ошибке — возврат к окну входа. При успехе — определение роли (Администратор / Фармацевт) и переход на Dashboard.</a:t>
            </a:r>
            <a:endParaRPr lang="en-US" sz="1150" dirty="0"/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041FEDD9-BC94-C76B-B5C7-7E102272718F}"/>
              </a:ext>
            </a:extLst>
          </p:cNvPr>
          <p:cNvSpPr/>
          <p:nvPr/>
        </p:nvSpPr>
        <p:spPr>
          <a:xfrm>
            <a:off x="4160520" y="2596896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37">
            <a:extLst>
              <a:ext uri="{FF2B5EF4-FFF2-40B4-BE49-F238E27FC236}">
                <a16:creationId xmlns:a16="http://schemas.microsoft.com/office/drawing/2014/main" id="{D16D9DAA-104B-2FC9-32E0-8C4001F08E25}"/>
              </a:ext>
            </a:extLst>
          </p:cNvPr>
          <p:cNvSpPr/>
          <p:nvPr/>
        </p:nvSpPr>
        <p:spPr>
          <a:xfrm>
            <a:off x="4270248" y="2724912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0" name="Text 38">
            <a:extLst>
              <a:ext uri="{FF2B5EF4-FFF2-40B4-BE49-F238E27FC236}">
                <a16:creationId xmlns:a16="http://schemas.microsoft.com/office/drawing/2014/main" id="{A6B5ECD0-6015-3261-DB22-4C3F86819E14}"/>
              </a:ext>
            </a:extLst>
          </p:cNvPr>
          <p:cNvSpPr/>
          <p:nvPr/>
        </p:nvSpPr>
        <p:spPr>
          <a:xfrm>
            <a:off x="4471416" y="2688336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Ролевая модель доступа</a:t>
            </a:r>
            <a:endParaRPr lang="en-US" sz="1400" dirty="0"/>
          </a:p>
        </p:txBody>
      </p:sp>
      <p:sp>
        <p:nvSpPr>
          <p:cNvPr id="111" name="Text 39">
            <a:extLst>
              <a:ext uri="{FF2B5EF4-FFF2-40B4-BE49-F238E27FC236}">
                <a16:creationId xmlns:a16="http://schemas.microsoft.com/office/drawing/2014/main" id="{6194579A-BCBB-5B45-39FE-64FB77F2A1CE}"/>
              </a:ext>
            </a:extLst>
          </p:cNvPr>
          <p:cNvSpPr/>
          <p:nvPr/>
        </p:nvSpPr>
        <p:spPr>
          <a:xfrm>
            <a:off x="4471416" y="2980944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получает полный доступ ко всем модулям. Фармацевт работает только с разрешёнными разделами. Роль задаётся администратором при создании учётной записи.</a:t>
            </a:r>
            <a:endParaRPr lang="en-US" sz="1150" dirty="0"/>
          </a:p>
        </p:txBody>
      </p:sp>
      <p:sp>
        <p:nvSpPr>
          <p:cNvPr id="112" name="Shape 40">
            <a:extLst>
              <a:ext uri="{FF2B5EF4-FFF2-40B4-BE49-F238E27FC236}">
                <a16:creationId xmlns:a16="http://schemas.microsoft.com/office/drawing/2014/main" id="{A9D92608-A11A-E167-D29D-772B249DB252}"/>
              </a:ext>
            </a:extLst>
          </p:cNvPr>
          <p:cNvSpPr/>
          <p:nvPr/>
        </p:nvSpPr>
        <p:spPr>
          <a:xfrm>
            <a:off x="4160520" y="3895344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Shape 41">
            <a:extLst>
              <a:ext uri="{FF2B5EF4-FFF2-40B4-BE49-F238E27FC236}">
                <a16:creationId xmlns:a16="http://schemas.microsoft.com/office/drawing/2014/main" id="{6A2D48A9-95D5-3DDD-9007-760D3B6CFBF2}"/>
              </a:ext>
            </a:extLst>
          </p:cNvPr>
          <p:cNvSpPr/>
          <p:nvPr/>
        </p:nvSpPr>
        <p:spPr>
          <a:xfrm>
            <a:off x="4270248" y="4023360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4" name="Text 42">
            <a:extLst>
              <a:ext uri="{FF2B5EF4-FFF2-40B4-BE49-F238E27FC236}">
                <a16:creationId xmlns:a16="http://schemas.microsoft.com/office/drawing/2014/main" id="{4D6A3861-ED63-638A-34F1-740D948A64F3}"/>
              </a:ext>
            </a:extLst>
          </p:cNvPr>
          <p:cNvSpPr/>
          <p:nvPr/>
        </p:nvSpPr>
        <p:spPr>
          <a:xfrm>
            <a:off x="4471416" y="3986784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модуля</a:t>
            </a:r>
            <a:endParaRPr lang="en-US" sz="1400" dirty="0"/>
          </a:p>
        </p:txBody>
      </p:sp>
      <p:sp>
        <p:nvSpPr>
          <p:cNvPr id="115" name="Text 43">
            <a:extLst>
              <a:ext uri="{FF2B5EF4-FFF2-40B4-BE49-F238E27FC236}">
                <a16:creationId xmlns:a16="http://schemas.microsoft.com/office/drawing/2014/main" id="{398946C6-AFFC-D5F8-6947-174589629E67}"/>
              </a:ext>
            </a:extLst>
          </p:cNvPr>
          <p:cNvSpPr/>
          <p:nvPr/>
        </p:nvSpPr>
        <p:spPr>
          <a:xfrm>
            <a:off x="4471416" y="4279392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главного экрана пользователь переходит в нужный раздел: Документы, Маркировка (SGTIN / МДЛП), Инвентаризация, Справочники или Отчёты.</a:t>
            </a:r>
            <a:endParaRPr lang="en-US" sz="1150" dirty="0"/>
          </a:p>
        </p:txBody>
      </p:sp>
      <p:sp>
        <p:nvSpPr>
          <p:cNvPr id="116" name="Shape 44">
            <a:extLst>
              <a:ext uri="{FF2B5EF4-FFF2-40B4-BE49-F238E27FC236}">
                <a16:creationId xmlns:a16="http://schemas.microsoft.com/office/drawing/2014/main" id="{4F8EE0AD-0779-5D81-34A4-20F0B60A93F3}"/>
              </a:ext>
            </a:extLst>
          </p:cNvPr>
          <p:cNvSpPr/>
          <p:nvPr/>
        </p:nvSpPr>
        <p:spPr>
          <a:xfrm>
            <a:off x="4160520" y="5193792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45">
            <a:extLst>
              <a:ext uri="{FF2B5EF4-FFF2-40B4-BE49-F238E27FC236}">
                <a16:creationId xmlns:a16="http://schemas.microsoft.com/office/drawing/2014/main" id="{D341D7EB-70D1-85EB-9EFE-0D7A431621B4}"/>
              </a:ext>
            </a:extLst>
          </p:cNvPr>
          <p:cNvSpPr/>
          <p:nvPr/>
        </p:nvSpPr>
        <p:spPr>
          <a:xfrm>
            <a:off x="4270248" y="5321808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8" name="Text 46">
            <a:extLst>
              <a:ext uri="{FF2B5EF4-FFF2-40B4-BE49-F238E27FC236}">
                <a16:creationId xmlns:a16="http://schemas.microsoft.com/office/drawing/2014/main" id="{9B697752-676C-9A6A-3628-6F39487AE6C9}"/>
              </a:ext>
            </a:extLst>
          </p:cNvPr>
          <p:cNvSpPr/>
          <p:nvPr/>
        </p:nvSpPr>
        <p:spPr>
          <a:xfrm>
            <a:off x="4471416" y="5285232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Критические события и уведомления</a:t>
            </a:r>
            <a:endParaRPr lang="en-US" sz="1400" dirty="0"/>
          </a:p>
        </p:txBody>
      </p:sp>
      <p:sp>
        <p:nvSpPr>
          <p:cNvPr id="119" name="Text 47">
            <a:extLst>
              <a:ext uri="{FF2B5EF4-FFF2-40B4-BE49-F238E27FC236}">
                <a16:creationId xmlns:a16="http://schemas.microsoft.com/office/drawing/2014/main" id="{C2E71F71-8829-8049-B6BC-CDEBAAC21FE3}"/>
              </a:ext>
            </a:extLst>
          </p:cNvPr>
          <p:cNvSpPr/>
          <p:nvPr/>
        </p:nvSpPr>
        <p:spPr>
          <a:xfrm>
            <a:off x="4471416" y="5577840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зафиксированы истекающие сроки годности или низкий остаток — система формирует уведомление. Пользователь может продолжить работу или завершить сеанс.</a:t>
            </a:r>
            <a:endParaRPr lang="en-US" sz="1150" dirty="0"/>
          </a:p>
        </p:txBody>
      </p:sp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59D02C4A-A82C-5449-DC28-1D928ABBE1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4"/>
          <a:stretch>
            <a:fillRect/>
          </a:stretch>
        </p:blipFill>
        <p:spPr bwMode="auto">
          <a:xfrm>
            <a:off x="714422" y="1280319"/>
            <a:ext cx="3336370" cy="5412930"/>
          </a:xfrm>
          <a:prstGeom prst="rect">
            <a:avLst/>
          </a:prstGeom>
          <a:ln w="12700"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1">
            <a:extLst>
              <a:ext uri="{FF2B5EF4-FFF2-40B4-BE49-F238E27FC236}">
                <a16:creationId xmlns:a16="http://schemas.microsoft.com/office/drawing/2014/main" id="{B9EDA935-FFD5-8BA3-5A1E-F4D2AA4CB805}"/>
              </a:ext>
            </a:extLst>
          </p:cNvPr>
          <p:cNvSpPr/>
          <p:nvPr/>
        </p:nvSpPr>
        <p:spPr>
          <a:xfrm>
            <a:off x="411480" y="438912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Схема базы данных</a:t>
            </a:r>
            <a:endParaRPr lang="en-US" sz="3000" dirty="0"/>
          </a:p>
        </p:txBody>
      </p:sp>
      <p:sp>
        <p:nvSpPr>
          <p:cNvPr id="74" name="Shape 2">
            <a:extLst>
              <a:ext uri="{FF2B5EF4-FFF2-40B4-BE49-F238E27FC236}">
                <a16:creationId xmlns:a16="http://schemas.microsoft.com/office/drawing/2014/main" id="{F568B56D-FEAD-0A4A-03E9-08E22070DFFD}"/>
              </a:ext>
            </a:extLst>
          </p:cNvPr>
          <p:cNvSpPr/>
          <p:nvPr/>
        </p:nvSpPr>
        <p:spPr>
          <a:xfrm>
            <a:off x="411480" y="1170432"/>
            <a:ext cx="100584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4" name="Shape 32">
            <a:extLst>
              <a:ext uri="{FF2B5EF4-FFF2-40B4-BE49-F238E27FC236}">
                <a16:creationId xmlns:a16="http://schemas.microsoft.com/office/drawing/2014/main" id="{56A578E9-357D-6F87-CEA5-456FAB1E1EFE}"/>
              </a:ext>
            </a:extLst>
          </p:cNvPr>
          <p:cNvSpPr/>
          <p:nvPr/>
        </p:nvSpPr>
        <p:spPr>
          <a:xfrm>
            <a:off x="411480" y="1426464"/>
            <a:ext cx="4514088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5" name="Shape 33">
            <a:extLst>
              <a:ext uri="{FF2B5EF4-FFF2-40B4-BE49-F238E27FC236}">
                <a16:creationId xmlns:a16="http://schemas.microsoft.com/office/drawing/2014/main" id="{B7AF9FA0-A5E5-52A8-BFE0-1D4F886A7C7C}"/>
              </a:ext>
            </a:extLst>
          </p:cNvPr>
          <p:cNvSpPr/>
          <p:nvPr/>
        </p:nvSpPr>
        <p:spPr>
          <a:xfrm>
            <a:off x="521208" y="1554480"/>
            <a:ext cx="65264" cy="859536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6" name="Text 34">
            <a:extLst>
              <a:ext uri="{FF2B5EF4-FFF2-40B4-BE49-F238E27FC236}">
                <a16:creationId xmlns:a16="http://schemas.microsoft.com/office/drawing/2014/main" id="{C439D608-C62D-4A98-2D02-A740B5EDAC36}"/>
              </a:ext>
            </a:extLst>
          </p:cNvPr>
          <p:cNvSpPr/>
          <p:nvPr/>
        </p:nvSpPr>
        <p:spPr>
          <a:xfrm>
            <a:off x="722376" y="1517904"/>
            <a:ext cx="4263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Журнал операций МДЛП</a:t>
            </a:r>
            <a:endParaRPr lang="en-US" sz="1400" b="1" dirty="0">
              <a:solidFill>
                <a:srgbClr val="1E293B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07" name="Text 35">
            <a:extLst>
              <a:ext uri="{FF2B5EF4-FFF2-40B4-BE49-F238E27FC236}">
                <a16:creationId xmlns:a16="http://schemas.microsoft.com/office/drawing/2014/main" id="{1EFBB4DC-91EB-91C1-29D7-D80E18E16D7B}"/>
              </a:ext>
            </a:extLst>
          </p:cNvPr>
          <p:cNvSpPr/>
          <p:nvPr/>
        </p:nvSpPr>
        <p:spPr>
          <a:xfrm>
            <a:off x="722376" y="1810512"/>
            <a:ext cx="426391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5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Связующее звено между внутренними складскими операциями и внешней государственной системой маркировки «Честный ЗНАК»</a:t>
            </a:r>
            <a:endParaRPr lang="en-US" sz="115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041FEDD9-BC94-C76B-B5C7-7E102272718F}"/>
              </a:ext>
            </a:extLst>
          </p:cNvPr>
          <p:cNvSpPr/>
          <p:nvPr/>
        </p:nvSpPr>
        <p:spPr>
          <a:xfrm>
            <a:off x="411480" y="2724912"/>
            <a:ext cx="4514088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37">
            <a:extLst>
              <a:ext uri="{FF2B5EF4-FFF2-40B4-BE49-F238E27FC236}">
                <a16:creationId xmlns:a16="http://schemas.microsoft.com/office/drawing/2014/main" id="{D16D9DAA-104B-2FC9-32E0-8C4001F08E25}"/>
              </a:ext>
            </a:extLst>
          </p:cNvPr>
          <p:cNvSpPr/>
          <p:nvPr/>
        </p:nvSpPr>
        <p:spPr>
          <a:xfrm>
            <a:off x="521208" y="2852928"/>
            <a:ext cx="65264" cy="859536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0" name="Text 38">
            <a:extLst>
              <a:ext uri="{FF2B5EF4-FFF2-40B4-BE49-F238E27FC236}">
                <a16:creationId xmlns:a16="http://schemas.microsoft.com/office/drawing/2014/main" id="{A6B5ECD0-6015-3261-DB22-4C3F86819E14}"/>
              </a:ext>
            </a:extLst>
          </p:cNvPr>
          <p:cNvSpPr/>
          <p:nvPr/>
        </p:nvSpPr>
        <p:spPr>
          <a:xfrm>
            <a:off x="722376" y="2816352"/>
            <a:ext cx="4263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История МДЛП</a:t>
            </a:r>
          </a:p>
        </p:txBody>
      </p:sp>
      <p:sp>
        <p:nvSpPr>
          <p:cNvPr id="111" name="Text 39">
            <a:extLst>
              <a:ext uri="{FF2B5EF4-FFF2-40B4-BE49-F238E27FC236}">
                <a16:creationId xmlns:a16="http://schemas.microsoft.com/office/drawing/2014/main" id="{6194579A-BCBB-5B45-39FE-64FB77F2A1CE}"/>
              </a:ext>
            </a:extLst>
          </p:cNvPr>
          <p:cNvSpPr/>
          <p:nvPr/>
        </p:nvSpPr>
        <p:spPr>
          <a:xfrm>
            <a:off x="722376" y="3048000"/>
            <a:ext cx="426391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5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Хронология изменений статуса конкретного документа МДЛП.</a:t>
            </a:r>
            <a:r>
              <a:rPr lang="ru-RU" dirty="0"/>
              <a:t> </a:t>
            </a:r>
            <a:r>
              <a:rPr lang="ru-RU" sz="115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Позволяет увидеть, как менялся статус операции во времени</a:t>
            </a:r>
            <a:endParaRPr lang="en-US" sz="115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2" name="Shape 40">
            <a:extLst>
              <a:ext uri="{FF2B5EF4-FFF2-40B4-BE49-F238E27FC236}">
                <a16:creationId xmlns:a16="http://schemas.microsoft.com/office/drawing/2014/main" id="{A9D92608-A11A-E167-D29D-772B249DB252}"/>
              </a:ext>
            </a:extLst>
          </p:cNvPr>
          <p:cNvSpPr/>
          <p:nvPr/>
        </p:nvSpPr>
        <p:spPr>
          <a:xfrm>
            <a:off x="411480" y="4023360"/>
            <a:ext cx="4514088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Shape 41">
            <a:extLst>
              <a:ext uri="{FF2B5EF4-FFF2-40B4-BE49-F238E27FC236}">
                <a16:creationId xmlns:a16="http://schemas.microsoft.com/office/drawing/2014/main" id="{6A2D48A9-95D5-3DDD-9007-760D3B6CFBF2}"/>
              </a:ext>
            </a:extLst>
          </p:cNvPr>
          <p:cNvSpPr/>
          <p:nvPr/>
        </p:nvSpPr>
        <p:spPr>
          <a:xfrm>
            <a:off x="521208" y="4151376"/>
            <a:ext cx="65264" cy="85953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4" name="Text 42">
            <a:extLst>
              <a:ext uri="{FF2B5EF4-FFF2-40B4-BE49-F238E27FC236}">
                <a16:creationId xmlns:a16="http://schemas.microsoft.com/office/drawing/2014/main" id="{4D6A3861-ED63-638A-34F1-740D948A64F3}"/>
              </a:ext>
            </a:extLst>
          </p:cNvPr>
          <p:cNvSpPr/>
          <p:nvPr/>
        </p:nvSpPr>
        <p:spPr>
          <a:xfrm>
            <a:off x="722376" y="4114800"/>
            <a:ext cx="4263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Инвентаризация</a:t>
            </a:r>
            <a:r>
              <a:rPr lang="ru-RU" b="1" dirty="0"/>
              <a:t> </a:t>
            </a:r>
          </a:p>
        </p:txBody>
      </p:sp>
      <p:sp>
        <p:nvSpPr>
          <p:cNvPr id="115" name="Text 43">
            <a:extLst>
              <a:ext uri="{FF2B5EF4-FFF2-40B4-BE49-F238E27FC236}">
                <a16:creationId xmlns:a16="http://schemas.microsoft.com/office/drawing/2014/main" id="{398946C6-AFFC-D5F8-6947-174589629E67}"/>
              </a:ext>
            </a:extLst>
          </p:cNvPr>
          <p:cNvSpPr/>
          <p:nvPr/>
        </p:nvSpPr>
        <p:spPr>
          <a:xfrm>
            <a:off x="722376" y="4407408"/>
            <a:ext cx="426391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5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Документ инвентаризации - процесса сверки фактического наличия товара на складе с учетными данными.</a:t>
            </a:r>
            <a:endParaRPr lang="en-US" sz="115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6" name="Shape 44">
            <a:extLst>
              <a:ext uri="{FF2B5EF4-FFF2-40B4-BE49-F238E27FC236}">
                <a16:creationId xmlns:a16="http://schemas.microsoft.com/office/drawing/2014/main" id="{4F8EE0AD-0779-5D81-34A4-20F0B60A93F3}"/>
              </a:ext>
            </a:extLst>
          </p:cNvPr>
          <p:cNvSpPr/>
          <p:nvPr/>
        </p:nvSpPr>
        <p:spPr>
          <a:xfrm>
            <a:off x="411480" y="5321808"/>
            <a:ext cx="4514088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45">
            <a:extLst>
              <a:ext uri="{FF2B5EF4-FFF2-40B4-BE49-F238E27FC236}">
                <a16:creationId xmlns:a16="http://schemas.microsoft.com/office/drawing/2014/main" id="{D341D7EB-70D1-85EB-9EFE-0D7A431621B4}"/>
              </a:ext>
            </a:extLst>
          </p:cNvPr>
          <p:cNvSpPr/>
          <p:nvPr/>
        </p:nvSpPr>
        <p:spPr>
          <a:xfrm>
            <a:off x="521208" y="5449824"/>
            <a:ext cx="65264" cy="85953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8" name="Text 46">
            <a:extLst>
              <a:ext uri="{FF2B5EF4-FFF2-40B4-BE49-F238E27FC236}">
                <a16:creationId xmlns:a16="http://schemas.microsoft.com/office/drawing/2014/main" id="{9B697752-676C-9A6A-3628-6F39487AE6C9}"/>
              </a:ext>
            </a:extLst>
          </p:cNvPr>
          <p:cNvSpPr/>
          <p:nvPr/>
        </p:nvSpPr>
        <p:spPr>
          <a:xfrm>
            <a:off x="722376" y="5413248"/>
            <a:ext cx="42639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Строки инвентаризации</a:t>
            </a:r>
            <a:endParaRPr lang="en-US" sz="1400" dirty="0"/>
          </a:p>
        </p:txBody>
      </p:sp>
      <p:sp>
        <p:nvSpPr>
          <p:cNvPr id="119" name="Text 47">
            <a:extLst>
              <a:ext uri="{FF2B5EF4-FFF2-40B4-BE49-F238E27FC236}">
                <a16:creationId xmlns:a16="http://schemas.microsoft.com/office/drawing/2014/main" id="{C2E71F71-8829-8049-B6BC-CDEBAAC21FE3}"/>
              </a:ext>
            </a:extLst>
          </p:cNvPr>
          <p:cNvSpPr/>
          <p:nvPr/>
        </p:nvSpPr>
        <p:spPr>
          <a:xfrm>
            <a:off x="722376" y="5705856"/>
            <a:ext cx="426391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5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Детализация документа инвентаризации. Фиксация расхождений между тем, что должно быть по системе, и тем, что насчитали фактически.</a:t>
            </a:r>
            <a:endParaRPr lang="en-US" sz="115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6885F2-F466-03DF-BECA-08144FEC3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90" y="1664208"/>
            <a:ext cx="7026603" cy="437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3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hareable and Customizable SVG Resources in WPF">
            <a:extLst>
              <a:ext uri="{FF2B5EF4-FFF2-40B4-BE49-F238E27FC236}">
                <a16:creationId xmlns:a16="http://schemas.microsoft.com/office/drawing/2014/main" id="{77BE115C-0586-36E6-410F-194E7EE4D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5" t="11439" r="25035" b="18105"/>
          <a:stretch>
            <a:fillRect/>
          </a:stretch>
        </p:blipFill>
        <p:spPr bwMode="auto">
          <a:xfrm>
            <a:off x="8622792" y="3218687"/>
            <a:ext cx="2898648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/>
          <p:cNvSpPr/>
          <p:nvPr/>
        </p:nvSpPr>
        <p:spPr>
          <a:xfrm>
            <a:off x="640080" y="4389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и технологии разработки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6" name="Picture 2" descr="Picture background">
            <a:extLst>
              <a:ext uri="{FF2B5EF4-FFF2-40B4-BE49-F238E27FC236}">
                <a16:creationId xmlns:a16="http://schemas.microsoft.com/office/drawing/2014/main" id="{5EDBE3E2-2A52-4CD7-BAFB-9CDEF9FEA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85" y="1412841"/>
            <a:ext cx="2716428" cy="305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Image with background removed">
            <a:extLst>
              <a:ext uri="{FF2B5EF4-FFF2-40B4-BE49-F238E27FC236}">
                <a16:creationId xmlns:a16="http://schemas.microsoft.com/office/drawing/2014/main" id="{99CBBAD6-B0C7-4666-BCAE-B404CC3EA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813" y="3114994"/>
            <a:ext cx="2895315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9" descr="Image with background removed">
            <a:extLst>
              <a:ext uri="{FF2B5EF4-FFF2-40B4-BE49-F238E27FC236}">
                <a16:creationId xmlns:a16="http://schemas.microsoft.com/office/drawing/2014/main" id="{AF6E4CEA-D389-4500-96A4-AAC00144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056" y="1312257"/>
            <a:ext cx="4936906" cy="23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28E7-AF49-7103-7438-92BF8782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E31198-B118-3CEB-303B-099DD88F9F67}"/>
              </a:ext>
            </a:extLst>
          </p:cNvPr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C870A-C10C-E6BD-8CEC-60E3989E23AA}"/>
              </a:ext>
            </a:extLst>
          </p:cNvPr>
          <p:cNvSpPr/>
          <p:nvPr/>
        </p:nvSpPr>
        <p:spPr>
          <a:xfrm>
            <a:off x="640080" y="1468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 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76CE05-5D62-2CCC-FC90-18ADD093238F}"/>
              </a:ext>
            </a:extLst>
          </p:cNvPr>
          <p:cNvSpPr/>
          <p:nvPr/>
        </p:nvSpPr>
        <p:spPr>
          <a:xfrm>
            <a:off x="640080" y="8966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E58486-CAD6-9436-D36D-002D69ED6F68}"/>
              </a:ext>
            </a:extLst>
          </p:cNvPr>
          <p:cNvSpPr/>
          <p:nvPr/>
        </p:nvSpPr>
        <p:spPr>
          <a:xfrm>
            <a:off x="411480" y="1061212"/>
            <a:ext cx="830072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7E33ACA-AF30-6F45-3191-46C9479B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70940"/>
            <a:ext cx="566928" cy="56692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5B780867-64E2-537B-6B22-CDDF4D0E2071}"/>
              </a:ext>
            </a:extLst>
          </p:cNvPr>
          <p:cNvSpPr/>
          <p:nvPr/>
        </p:nvSpPr>
        <p:spPr>
          <a:xfrm>
            <a:off x="1325880" y="1152652"/>
            <a:ext cx="7259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достигнута: разработана и 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протестирована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автоматизированная информационная систему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учёта товародвижения 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аптечного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склада с поддержкой маркировки ЛП.</a:t>
            </a: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EFC6764-865C-EE60-4D9D-6DCAF2053FEF}"/>
              </a:ext>
            </a:extLst>
          </p:cNvPr>
          <p:cNvSpPr/>
          <p:nvPr/>
        </p:nvSpPr>
        <p:spPr>
          <a:xfrm>
            <a:off x="411480" y="206705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42593C0-BB34-9FE3-6FD8-91A0E812B44F}"/>
              </a:ext>
            </a:extLst>
          </p:cNvPr>
          <p:cNvSpPr/>
          <p:nvPr/>
        </p:nvSpPr>
        <p:spPr>
          <a:xfrm>
            <a:off x="411480" y="2067052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0EA5E9"/>
          </a:solidFill>
          <a:ln/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238FBB5F-88C2-9CD9-0CE3-333488999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95652"/>
            <a:ext cx="457200" cy="4572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2C4D85BC-395B-3E6F-7E1B-819EA116F87E}"/>
              </a:ext>
            </a:extLst>
          </p:cNvPr>
          <p:cNvSpPr/>
          <p:nvPr/>
        </p:nvSpPr>
        <p:spPr>
          <a:xfrm>
            <a:off x="594360" y="28168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документооборот: приход, расход, списание, корректировки, инвентаризация</a:t>
            </a:r>
            <a:endParaRPr lang="en-US" sz="12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0639DA0-5A1E-311C-3B8E-705817692752}"/>
              </a:ext>
            </a:extLst>
          </p:cNvPr>
          <p:cNvSpPr/>
          <p:nvPr/>
        </p:nvSpPr>
        <p:spPr>
          <a:xfrm>
            <a:off x="411480" y="3648964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2766432-4E21-4409-CA05-8E5E89828287}"/>
              </a:ext>
            </a:extLst>
          </p:cNvPr>
          <p:cNvSpPr/>
          <p:nvPr/>
        </p:nvSpPr>
        <p:spPr>
          <a:xfrm>
            <a:off x="411480" y="3648964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667C0E8F-C0FA-90D1-00D0-48C4CA5D9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77564"/>
            <a:ext cx="457200" cy="457200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A2015EE6-B43B-009F-87C5-45E8329240AA}"/>
              </a:ext>
            </a:extLst>
          </p:cNvPr>
          <p:cNvSpPr/>
          <p:nvPr/>
        </p:nvSpPr>
        <p:spPr>
          <a:xfrm>
            <a:off x="594360" y="439877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с экспортом в Excel, главная страница с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аналитикой</a:t>
            </a:r>
            <a:endParaRPr lang="en-US" sz="12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AEAA5A69-4924-CF42-E9F1-ED52E914D663}"/>
              </a:ext>
            </a:extLst>
          </p:cNvPr>
          <p:cNvSpPr/>
          <p:nvPr/>
        </p:nvSpPr>
        <p:spPr>
          <a:xfrm>
            <a:off x="4233672" y="3648964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C56DF5C-DCBE-4949-AF3E-A7D682CD56A6}"/>
              </a:ext>
            </a:extLst>
          </p:cNvPr>
          <p:cNvSpPr/>
          <p:nvPr/>
        </p:nvSpPr>
        <p:spPr>
          <a:xfrm>
            <a:off x="4233672" y="3648964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2C677242-2283-63AC-55D5-0FE9BA8BE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3877564"/>
            <a:ext cx="457200" cy="45720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BE57E4BD-FAAB-99B1-C91E-FE7E297ECB69}"/>
              </a:ext>
            </a:extLst>
          </p:cNvPr>
          <p:cNvSpPr/>
          <p:nvPr/>
        </p:nvSpPr>
        <p:spPr>
          <a:xfrm>
            <a:off x="4416552" y="439877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температурного режима хранения и кода GTIN в карточке товара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C2A84E6D-9CF9-F9DE-084F-236A8C01ABF8}"/>
              </a:ext>
            </a:extLst>
          </p:cNvPr>
          <p:cNvSpPr/>
          <p:nvPr/>
        </p:nvSpPr>
        <p:spPr>
          <a:xfrm>
            <a:off x="4267200" y="206705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1BF338ED-16F2-CB87-AC5A-40DD9B468145}"/>
              </a:ext>
            </a:extLst>
          </p:cNvPr>
          <p:cNvSpPr/>
          <p:nvPr/>
        </p:nvSpPr>
        <p:spPr>
          <a:xfrm>
            <a:off x="4267200" y="2067052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/>
        </p:spPr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A4A97DF2-D05F-5F84-E12C-1869209632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0080" y="2295652"/>
            <a:ext cx="457200" cy="457200"/>
          </a:xfrm>
          <a:prstGeom prst="rect">
            <a:avLst/>
          </a:prstGeom>
        </p:spPr>
      </p:pic>
      <p:sp>
        <p:nvSpPr>
          <p:cNvPr id="32" name="Text 23">
            <a:extLst>
              <a:ext uri="{FF2B5EF4-FFF2-40B4-BE49-F238E27FC236}">
                <a16:creationId xmlns:a16="http://schemas.microsoft.com/office/drawing/2014/main" id="{7D14E5C4-2DDB-8C8A-EAB1-D3B67954E263}"/>
              </a:ext>
            </a:extLst>
          </p:cNvPr>
          <p:cNvSpPr/>
          <p:nvPr/>
        </p:nvSpPr>
        <p:spPr>
          <a:xfrm>
            <a:off x="4450080" y="28168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уведомлений о критических событиях (сроки, остатки)</a:t>
            </a:r>
            <a:endParaRPr lang="en-US" sz="1200" dirty="0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B350432D-27B6-D8B7-205B-25E17904D13A}"/>
              </a:ext>
            </a:extLst>
          </p:cNvPr>
          <p:cNvSpPr/>
          <p:nvPr/>
        </p:nvSpPr>
        <p:spPr>
          <a:xfrm>
            <a:off x="411480" y="5230876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7B320A22-9155-5F32-2E45-C608E657357D}"/>
              </a:ext>
            </a:extLst>
          </p:cNvPr>
          <p:cNvSpPr/>
          <p:nvPr/>
        </p:nvSpPr>
        <p:spPr>
          <a:xfrm>
            <a:off x="411480" y="5230876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/>
        </p:spPr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8B0C4769-8FDA-8373-DBDF-8D4A831F74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459476"/>
            <a:ext cx="457200" cy="457200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452CE0E5-EF58-B401-FE44-8D6685CC9E86}"/>
              </a:ext>
            </a:extLst>
          </p:cNvPr>
          <p:cNvSpPr/>
          <p:nvPr/>
        </p:nvSpPr>
        <p:spPr>
          <a:xfrm>
            <a:off x="594360" y="598068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маркировки: SGTIN, DataMatrix, эмуляция МДЛП (схемы 415/416/552)</a:t>
            </a:r>
            <a:endParaRPr lang="en-US" sz="120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4CE5E2F-302C-62CC-AF8E-BA655845183A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9181842" y="924052"/>
            <a:ext cx="2415798" cy="23192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9398D6D-69C8-DAFC-4530-636BE92F6806}"/>
              </a:ext>
            </a:extLst>
          </p:cNvPr>
          <p:cNvSpPr txBox="1"/>
          <p:nvPr/>
        </p:nvSpPr>
        <p:spPr>
          <a:xfrm>
            <a:off x="9295755" y="3210858"/>
            <a:ext cx="2301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Исходный код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B2E6F68-4CBF-5435-37C8-3264083CD8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1842" y="3726629"/>
            <a:ext cx="2415798" cy="2423278"/>
          </a:xfrm>
          <a:prstGeom prst="rect">
            <a:avLst/>
          </a:prstGeom>
        </p:spPr>
      </p:pic>
      <p:sp>
        <p:nvSpPr>
          <p:cNvPr id="39" name="Текст 4">
            <a:extLst>
              <a:ext uri="{FF2B5EF4-FFF2-40B4-BE49-F238E27FC236}">
                <a16:creationId xmlns:a16="http://schemas.microsoft.com/office/drawing/2014/main" id="{3E17028D-8C1F-4EF2-39F8-27BB69F839BE}"/>
              </a:ext>
            </a:extLst>
          </p:cNvPr>
          <p:cNvSpPr txBox="1">
            <a:spLocks/>
          </p:cNvSpPr>
          <p:nvPr/>
        </p:nvSpPr>
        <p:spPr>
          <a:xfrm>
            <a:off x="8311760" y="6058043"/>
            <a:ext cx="9320477" cy="653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QR-</a:t>
            </a:r>
            <a:r>
              <a:rPr lang="ru-RU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Код на сайт - портфолио</a:t>
            </a:r>
          </a:p>
        </p:txBody>
      </p:sp>
    </p:spTree>
    <p:extLst>
      <p:ext uri="{BB962C8B-B14F-4D97-AF65-F5344CB8AC3E}">
        <p14:creationId xmlns:p14="http://schemas.microsoft.com/office/powerpoint/2010/main" val="204453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482</Words>
  <Application>Microsoft Office PowerPoint</Application>
  <PresentationFormat>Широкоэкранный</PresentationFormat>
  <Paragraphs>60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wuttenn@gmail.com</cp:lastModifiedBy>
  <cp:revision>9</cp:revision>
  <dcterms:created xsi:type="dcterms:W3CDTF">2026-06-14T16:37:58Z</dcterms:created>
  <dcterms:modified xsi:type="dcterms:W3CDTF">2026-06-23T20:45:58Z</dcterms:modified>
</cp:coreProperties>
</file>